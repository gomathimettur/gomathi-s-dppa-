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6952-E810-4636-8ABD-D4FA5B123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3B078-A6B5-4A7E-93C2-8FAAF53A4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FB0B2-C0C6-4791-A982-214BCE4BB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A7063-A17F-47A7-BCE5-44285B1A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EE87D-EE44-456B-B1FB-33339662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88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2B9F-8A96-4C8D-94BE-E86C29B6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6D39-E156-4977-ACE6-D180FF197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C9F41-5687-4EFC-ADDA-95C76AC7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A1F77-5505-4E5F-9BC7-1D530CF5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DC60C-6AC6-495D-B0D3-D47BC675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508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2CF3-4F30-4F0E-9CFE-4D1A8E86B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D36-C38B-4361-AEF5-01A8A5827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3BAE2-3AB8-46C0-80A3-D0FA22A8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BA782-0C20-408B-B038-B7266188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5EDFB-550A-48E2-AFB3-28942E56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72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78164-9791-4FB1-ACB1-E0D926C6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46503-3917-4BE4-8105-16067A4EC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555C1-CF00-42AC-881F-E0F108118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73EAE-D1FB-48ED-8A58-A5936DBE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74AA7-8BA7-4DB9-AB7F-C52A7223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CDE80-2370-47EB-ACC9-0718A75A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443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0E6C5-7F74-47B0-A3C9-49F8CADD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07F3E-52A0-4A38-A38D-7A23D56E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EF5A5-F94E-47DC-A0C6-5C1286AA6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AF67C-6E66-409A-81AB-8BC3F8E441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26B1AF-2B27-4F10-8FD2-1A5A59BD8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86918A-8DEC-4619-AB35-F7717CE8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17C19-2114-4BFE-9A12-E27448C8D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6ADAA8-D25D-4604-B2D1-E959B135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1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C9354-2A62-4953-830F-B8FE3065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7B369-9CA8-4688-807B-679BDCD2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20EDB-62DB-4A4B-82AF-29C8493E5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976F7-C641-432F-A2A5-1ACBDDD7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70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7484F-7BA4-4604-8885-787007C0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034E6-EF2D-4D44-AABF-0C5E87F8B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61988-1982-4374-A2C0-76051D72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741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E049-108C-4EE4-A06A-DDD57F361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9EFF6-A17A-44B8-85C8-85AC29E4F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85398-8328-4CD0-B9F7-83DD2EA30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A08C9-FCEB-45DB-8FF5-9188716A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C9304-A6B3-40F9-BCC0-988B8660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244CA-5AA4-45D7-9EB0-B86DD9B38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971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28D17-D703-46A0-9F73-D3FB348D2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4915C-3F51-425F-B19B-20ECE52D7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FFDFF-FFC2-4F39-8060-40D3BC027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67AA7-DBD1-4239-9174-C572CD66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050E9-D7BC-4FFA-9B6E-9A546883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A3E92-CAE9-462D-B5D8-6FF641D1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18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A6AF-3BE3-4E38-A0AE-3E17A77E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69EE5-B413-49F7-9AA7-FA263075A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60CF5-B679-4273-96D8-AB282D9FD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BCDBA-F779-4BC7-93BA-3A3002B4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A45E6-D81A-46E4-8090-E9D832DB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5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D2B6D5-5010-468F-9A7C-97AB08A09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70289-759E-42A7-89BF-BCE4367B2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4C549-B403-4278-87FA-C9D77834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730B8-70AD-4082-9A83-5870E6238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ACC5A-D9E1-4771-9ADF-6D87748E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80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161EF-67C1-4D78-A44A-61F856FF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35911-B558-45A4-B399-4BDA1D9CB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BC898-8096-4D9B-817C-33AF40B57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0600F-4285-42D2-804B-8F4E5BB3E97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8ED1C-927B-4979-BE1D-37AD7DBA9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A77A0-0C2E-4B62-9BB5-7ADE227EA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F1B5A-0B6A-42ED-8191-FCEA1978E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90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0D60-C5A1-4C6E-97F0-DA0F7911E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4" y="2955852"/>
            <a:ext cx="5972176" cy="1233375"/>
          </a:xfrm>
        </p:spPr>
        <p:txBody>
          <a:bodyPr>
            <a:norm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FREE FIRE </a:t>
            </a:r>
            <a:endParaRPr lang="en-IN" b="1" dirty="0">
              <a:latin typeface="Algerian" panose="04020705040A02060702" pitchFamily="8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5D06D8-7C4E-4356-89C8-66123B8D8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104" y="444858"/>
            <a:ext cx="5229225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6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03F2C6-0E53-4ECB-B37F-D4B6841FC8B2}"/>
              </a:ext>
            </a:extLst>
          </p:cNvPr>
          <p:cNvSpPr txBox="1"/>
          <p:nvPr/>
        </p:nvSpPr>
        <p:spPr>
          <a:xfrm>
            <a:off x="482682" y="1405605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INTRODUCTION:</a:t>
            </a:r>
            <a:endParaRPr lang="en-IN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2F1F6F-6911-4681-82F6-84D76910D9B2}"/>
              </a:ext>
            </a:extLst>
          </p:cNvPr>
          <p:cNvSpPr txBox="1"/>
          <p:nvPr/>
        </p:nvSpPr>
        <p:spPr>
          <a:xfrm>
            <a:off x="209550" y="2324051"/>
            <a:ext cx="86768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dirty="0"/>
              <a:t>Free Fire is a popular online multiplayer game where players purchase various in-game items such as skins, diamonds, weapons, and characters.</a:t>
            </a:r>
          </a:p>
          <a:p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dirty="0"/>
              <a:t>These purchases generate a large amount of sales data every day across different regions.</a:t>
            </a:r>
          </a:p>
          <a:p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dirty="0"/>
              <a:t>Analyzing this data manually is difficult and time-consuming.</a:t>
            </a:r>
            <a:br>
              <a:rPr lang="en-US" sz="2400" dirty="0"/>
            </a:br>
            <a:r>
              <a:rPr lang="en-US" sz="2400" dirty="0"/>
              <a:t>So, a Power BI dashboard is used to convert raw sales data into meaningful insights.</a:t>
            </a:r>
            <a:br>
              <a:rPr lang="en-US" sz="2400" dirty="0"/>
            </a:br>
            <a:endParaRPr lang="en-IN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423" y="-154546"/>
            <a:ext cx="3477294" cy="68386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613"/>
            <a:ext cx="2161309" cy="44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60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73728-1CF2-4F84-8241-D18197FBFA28}"/>
              </a:ext>
            </a:extLst>
          </p:cNvPr>
          <p:cNvSpPr txBox="1"/>
          <p:nvPr/>
        </p:nvSpPr>
        <p:spPr>
          <a:xfrm>
            <a:off x="342900" y="514350"/>
            <a:ext cx="5934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Black" panose="020B0A04020102020204" pitchFamily="34" charset="0"/>
              </a:rPr>
              <a:t>PROBLEM STATEMENT:</a:t>
            </a:r>
            <a:endParaRPr lang="en-IN" sz="3200" b="1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1121F-63B9-4E4D-8156-B9BF5C2E71C5}"/>
              </a:ext>
            </a:extLst>
          </p:cNvPr>
          <p:cNvSpPr txBox="1"/>
          <p:nvPr/>
        </p:nvSpPr>
        <p:spPr>
          <a:xfrm>
            <a:off x="721621" y="1419825"/>
            <a:ext cx="92201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Free Fire sales data contains a large volume of information</a:t>
            </a:r>
            <a:br>
              <a:rPr lang="en-US" sz="2000" dirty="0"/>
            </a:br>
            <a:r>
              <a:rPr lang="en-US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Products, Regions, Sales, Profit, Sales Targets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Without proper visualization: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Sales trends are difficult to understand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Region-wise performance comparison is unclear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High-profit and low-profit products are hard to identify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Sales target achievement cannot be tracked easily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Manual analysis: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Is time-consuming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Can lead to incorrect business decisions Therefore,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An interactive Power BI dashboard is required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To analyze and present sales data in a clear and visual format</a:t>
            </a:r>
          </a:p>
          <a:p>
            <a:br>
              <a:rPr lang="en-US" dirty="0"/>
            </a:b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425" y="514350"/>
            <a:ext cx="4023575" cy="6026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820" y="67680"/>
            <a:ext cx="2161309" cy="44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41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BF3BFF-8A03-43DF-9A52-319F5AE511B1}"/>
              </a:ext>
            </a:extLst>
          </p:cNvPr>
          <p:cNvSpPr txBox="1"/>
          <p:nvPr/>
        </p:nvSpPr>
        <p:spPr>
          <a:xfrm>
            <a:off x="361950" y="266700"/>
            <a:ext cx="8124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DATASET OVERVIEW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59194-8D25-454A-9C2E-0FE74A58B9B3}"/>
              </a:ext>
            </a:extLst>
          </p:cNvPr>
          <p:cNvSpPr txBox="1"/>
          <p:nvPr/>
        </p:nvSpPr>
        <p:spPr>
          <a:xfrm>
            <a:off x="576263" y="933451"/>
            <a:ext cx="9310688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The dataset represents </a:t>
            </a:r>
            <a:r>
              <a:rPr lang="en-US" sz="2000" b="1" dirty="0"/>
              <a:t>Free Fire sales performance data</a:t>
            </a:r>
          </a:p>
          <a:p>
            <a:endParaRPr lang="en-US" sz="2000" b="1" dirty="0"/>
          </a:p>
          <a:p>
            <a:r>
              <a:rPr lang="en-US" sz="2000" dirty="0"/>
              <a:t>It contains information related to: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Product Name</a:t>
            </a: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Product Category (Skins, Diamonds, Weapons, Characters, etc.)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Region (India, Philippines, Brazil, Indonesia, etc.)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Date of Sales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Total sales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Total profit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Units sold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Sales Target and Target Achieved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The dataset is structured into </a:t>
            </a:r>
            <a:r>
              <a:rPr lang="en-US" sz="2000" b="1" dirty="0"/>
              <a:t>multiple related tables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Data is imported from </a:t>
            </a:r>
            <a:r>
              <a:rPr lang="en-US" sz="2000" b="1" dirty="0"/>
              <a:t>Excel</a:t>
            </a:r>
            <a:r>
              <a:rPr lang="en-US" sz="2000" dirty="0"/>
              <a:t> into </a:t>
            </a:r>
            <a:r>
              <a:rPr lang="en-US" sz="2000" b="1" dirty="0"/>
              <a:t>Power BI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The dataset is used to analyze </a:t>
            </a:r>
            <a:r>
              <a:rPr lang="en-US" sz="2000" b="1" dirty="0"/>
              <a:t>sales trends, profit performance, and target achievement</a:t>
            </a: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40E6EF-121A-4220-8204-CC30B9018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5" y="0"/>
            <a:ext cx="3267075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616" y="6228983"/>
            <a:ext cx="2161309" cy="44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81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4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3160373" cy="653143"/>
          </a:xfrm>
          <a:prstGeom prst="rect">
            <a:avLst/>
          </a:prstGeom>
        </p:spPr>
      </p:pic>
      <p:sp>
        <p:nvSpPr>
          <p:cNvPr id="18" name="Hexagon 17"/>
          <p:cNvSpPr/>
          <p:nvPr/>
        </p:nvSpPr>
        <p:spPr>
          <a:xfrm>
            <a:off x="959862" y="753211"/>
            <a:ext cx="2149434" cy="1923803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free fire sales data was cleaned using power query in power bi</a:t>
            </a:r>
            <a:endParaRPr lang="en-IN" dirty="0"/>
          </a:p>
        </p:txBody>
      </p:sp>
      <p:sp>
        <p:nvSpPr>
          <p:cNvPr id="19" name="Hexagon 18"/>
          <p:cNvSpPr/>
          <p:nvPr/>
        </p:nvSpPr>
        <p:spPr>
          <a:xfrm>
            <a:off x="7504984" y="4206079"/>
            <a:ext cx="2665243" cy="1935678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calculated fields &amp; measure were create for:</a:t>
            </a:r>
          </a:p>
          <a:p>
            <a:pPr algn="ctr"/>
            <a:r>
              <a:rPr lang="en-US" dirty="0"/>
              <a:t>Total </a:t>
            </a:r>
            <a:r>
              <a:rPr lang="en-US" dirty="0" err="1"/>
              <a:t>sales,total</a:t>
            </a:r>
            <a:r>
              <a:rPr lang="en-US" dirty="0"/>
              <a:t> profit, Total units sold, Target achievement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Hexagon 19"/>
              <p:cNvSpPr/>
              <p:nvPr/>
            </p:nvSpPr>
            <p:spPr>
              <a:xfrm>
                <a:off x="4298868" y="4720676"/>
                <a:ext cx="2422566" cy="1923803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Data types were properly set</a:t>
                </a:r>
              </a:p>
              <a:p>
                <a:pPr marL="285750" indent="-285750" algn="ctr">
                  <a:buFont typeface="Wingdings" panose="05000000000000000000" pitchFamily="2" charset="2"/>
                  <a:buChar char="v"/>
                </a:pPr>
                <a:r>
                  <a:rPr lang="en-US" dirty="0"/>
                  <a:t>Sales, profit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numeric</a:t>
                </a:r>
              </a:p>
              <a:p>
                <a:pPr marL="285750" indent="-285750" algn="ctr">
                  <a:buFont typeface="Wingdings" panose="05000000000000000000" pitchFamily="2" charset="2"/>
                  <a:buChar char="v"/>
                </a:pPr>
                <a:r>
                  <a:rPr lang="en-US" dirty="0"/>
                  <a:t>Date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date format </a:t>
                </a:r>
              </a:p>
            </p:txBody>
          </p:sp>
        </mc:Choice>
        <mc:Fallback xmlns="">
          <p:sp>
            <p:nvSpPr>
              <p:cNvPr id="20" name="Hexagon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868" y="4720676"/>
                <a:ext cx="2422566" cy="1923803"/>
              </a:xfrm>
              <a:prstGeom prst="hexagon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Hexagon 21"/>
          <p:cNvSpPr/>
          <p:nvPr/>
        </p:nvSpPr>
        <p:spPr>
          <a:xfrm>
            <a:off x="4427900" y="-1"/>
            <a:ext cx="2149434" cy="1923803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Duplicate records were identified and remove</a:t>
            </a:r>
            <a:endParaRPr lang="en-IN" dirty="0"/>
          </a:p>
        </p:txBody>
      </p:sp>
      <p:sp>
        <p:nvSpPr>
          <p:cNvPr id="23" name="Hexagon 22"/>
          <p:cNvSpPr/>
          <p:nvPr/>
        </p:nvSpPr>
        <p:spPr>
          <a:xfrm>
            <a:off x="1463540" y="3303318"/>
            <a:ext cx="2221839" cy="1923803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Column name were renamed for better understanding</a:t>
            </a:r>
            <a:endParaRPr lang="en-IN" dirty="0"/>
          </a:p>
        </p:txBody>
      </p:sp>
      <p:sp>
        <p:nvSpPr>
          <p:cNvPr id="24" name="Hexagon 23"/>
          <p:cNvSpPr/>
          <p:nvPr/>
        </p:nvSpPr>
        <p:spPr>
          <a:xfrm>
            <a:off x="7618789" y="1563584"/>
            <a:ext cx="2149434" cy="1923803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Incorrect and missing values were checked and handle</a:t>
            </a:r>
            <a:endParaRPr lang="en-IN" dirty="0"/>
          </a:p>
        </p:txBody>
      </p:sp>
      <p:sp>
        <p:nvSpPr>
          <p:cNvPr id="29" name="6-Point Star 28"/>
          <p:cNvSpPr/>
          <p:nvPr/>
        </p:nvSpPr>
        <p:spPr>
          <a:xfrm>
            <a:off x="4069158" y="2125682"/>
            <a:ext cx="2973547" cy="2379023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CLEANING &amp; DATA TRANSFORMATION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982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agon 6">
            <a:extLst>
              <a:ext uri="{FF2B5EF4-FFF2-40B4-BE49-F238E27FC236}">
                <a16:creationId xmlns:a16="http://schemas.microsoft.com/office/drawing/2014/main" id="{1A74EDC4-94A1-4B0D-AEED-851B5A4B1A5C}"/>
              </a:ext>
            </a:extLst>
          </p:cNvPr>
          <p:cNvSpPr/>
          <p:nvPr/>
        </p:nvSpPr>
        <p:spPr>
          <a:xfrm>
            <a:off x="148246" y="792957"/>
            <a:ext cx="2609850" cy="2162175"/>
          </a:xfrm>
          <a:prstGeom prst="hexagon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tables used: 4 (free fire 1, free fire 2, free fire 3, free fire 4)</a:t>
            </a:r>
            <a:endParaRPr lang="en-IN" dirty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3D31440C-DCB2-40E9-B29E-B2A31B37F80D}"/>
              </a:ext>
            </a:extLst>
          </p:cNvPr>
          <p:cNvSpPr/>
          <p:nvPr/>
        </p:nvSpPr>
        <p:spPr>
          <a:xfrm>
            <a:off x="180394" y="3717131"/>
            <a:ext cx="2609850" cy="2162175"/>
          </a:xfrm>
          <a:prstGeom prst="hexagon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Tables are connected using common fields</a:t>
            </a:r>
          </a:p>
          <a:p>
            <a:pPr algn="ctr"/>
            <a:r>
              <a:rPr lang="en-US" dirty="0" err="1"/>
              <a:t>Transaction_ID</a:t>
            </a:r>
            <a:r>
              <a:rPr lang="en-US" dirty="0"/>
              <a:t>, Date, Region</a:t>
            </a:r>
            <a:endParaRPr lang="en-IN" dirty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F962E9E-FE85-48DD-AB3E-5A03045BD863}"/>
              </a:ext>
            </a:extLst>
          </p:cNvPr>
          <p:cNvSpPr/>
          <p:nvPr/>
        </p:nvSpPr>
        <p:spPr>
          <a:xfrm>
            <a:off x="7038975" y="95251"/>
            <a:ext cx="2609850" cy="2162175"/>
          </a:xfrm>
          <a:prstGeom prst="hexagon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Relationship type: </a:t>
            </a:r>
          </a:p>
          <a:p>
            <a:pPr algn="ctr"/>
            <a:r>
              <a:rPr lang="en-US" dirty="0"/>
              <a:t>One-to-many (1:*)</a:t>
            </a:r>
            <a:endParaRPr lang="en-IN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90E8A5BF-73D1-4905-BF2A-EEC113648460}"/>
              </a:ext>
            </a:extLst>
          </p:cNvPr>
          <p:cNvSpPr/>
          <p:nvPr/>
        </p:nvSpPr>
        <p:spPr>
          <a:xfrm>
            <a:off x="3486150" y="76200"/>
            <a:ext cx="2609850" cy="2162175"/>
          </a:xfrm>
          <a:prstGeom prst="hexagon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Schema used:</a:t>
            </a:r>
          </a:p>
          <a:p>
            <a:pPr algn="ctr"/>
            <a:r>
              <a:rPr lang="en-US" dirty="0"/>
              <a:t>Star schema</a:t>
            </a:r>
            <a:endParaRPr lang="en-IN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985A0A0C-5641-4310-B9A6-A82A1878FE8B}"/>
              </a:ext>
            </a:extLst>
          </p:cNvPr>
          <p:cNvSpPr/>
          <p:nvPr/>
        </p:nvSpPr>
        <p:spPr>
          <a:xfrm>
            <a:off x="3676650" y="4581524"/>
            <a:ext cx="2609850" cy="2162175"/>
          </a:xfrm>
          <a:prstGeom prst="hexagon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 main table is connected with multiple related tables</a:t>
            </a:r>
            <a:endParaRPr lang="en-IN" dirty="0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BA5434B9-B9EB-49A5-A62A-67BDE77739A5}"/>
              </a:ext>
            </a:extLst>
          </p:cNvPr>
          <p:cNvSpPr/>
          <p:nvPr/>
        </p:nvSpPr>
        <p:spPr>
          <a:xfrm>
            <a:off x="7038975" y="4474369"/>
            <a:ext cx="2609850" cy="2162175"/>
          </a:xfrm>
          <a:prstGeom prst="hexagon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data model helps to create accurate reports and dashboards</a:t>
            </a:r>
            <a:endParaRPr lang="en-IN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DBAC988A-2EC3-497E-9E53-0ABCA6178C6E}"/>
              </a:ext>
            </a:extLst>
          </p:cNvPr>
          <p:cNvSpPr/>
          <p:nvPr/>
        </p:nvSpPr>
        <p:spPr>
          <a:xfrm>
            <a:off x="9096375" y="2327910"/>
            <a:ext cx="2609850" cy="2162175"/>
          </a:xfrm>
          <a:prstGeom prst="hexagon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Filtering and analysis work properly using this model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3D80C5-88BE-4183-AB2C-B580DC071334}"/>
              </a:ext>
            </a:extLst>
          </p:cNvPr>
          <p:cNvSpPr/>
          <p:nvPr/>
        </p:nvSpPr>
        <p:spPr>
          <a:xfrm>
            <a:off x="3581400" y="2856547"/>
            <a:ext cx="4762500" cy="1163956"/>
          </a:xfrm>
          <a:prstGeom prst="roundRect">
            <a:avLst/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DATA MODELING</a:t>
            </a:r>
            <a:endParaRPr lang="en-IN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0455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419"/>
            <a:ext cx="12192000" cy="6858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95646" y="2230580"/>
            <a:ext cx="2553195" cy="2113808"/>
          </a:xfrm>
          <a:prstGeom prst="round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EXCEL</a:t>
            </a:r>
          </a:p>
          <a:p>
            <a:pPr algn="ctr"/>
            <a:endParaRPr lang="en-US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Used as the data source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Stores free fire sales dataset</a:t>
            </a:r>
            <a:endParaRPr lang="en-US" dirty="0"/>
          </a:p>
          <a:p>
            <a:pPr algn="ctr"/>
            <a:endParaRPr lang="en-IN" dirty="0"/>
          </a:p>
        </p:txBody>
      </p:sp>
      <p:sp>
        <p:nvSpPr>
          <p:cNvPr id="16" name="Rounded Rectangle 15"/>
          <p:cNvSpPr/>
          <p:nvPr/>
        </p:nvSpPr>
        <p:spPr>
          <a:xfrm>
            <a:off x="4227615" y="3524002"/>
            <a:ext cx="3752603" cy="2650177"/>
          </a:xfrm>
          <a:prstGeom prst="round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POWER BI</a:t>
            </a:r>
          </a:p>
          <a:p>
            <a:pPr algn="ctr"/>
            <a:endParaRPr lang="en-US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Used for data cleaning &amp; transformation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Used for data modeling and relationship creation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Used for create interactive dashboard &amp; </a:t>
            </a:r>
            <a:r>
              <a:rPr lang="en-US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repords</a:t>
            </a:r>
            <a:endParaRPr lang="en-IN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858992" y="2260269"/>
            <a:ext cx="2802575" cy="2054430"/>
          </a:xfrm>
          <a:prstGeom prst="round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DAX</a:t>
            </a:r>
          </a:p>
          <a:p>
            <a:pPr algn="ctr"/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Used to create calculated measures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Examples: total sales, total profit, units sold, target achievement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681350" y="339436"/>
            <a:ext cx="4631376" cy="1304304"/>
          </a:xfrm>
          <a:prstGeom prst="round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TECHNOLOGY USED</a:t>
            </a:r>
            <a:endParaRPr lang="en-IN" sz="4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7" name="Left Arrow 26"/>
          <p:cNvSpPr/>
          <p:nvPr/>
        </p:nvSpPr>
        <p:spPr>
          <a:xfrm rot="20033035">
            <a:off x="3507325" y="2040575"/>
            <a:ext cx="1155012" cy="43938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Left Arrow 27"/>
          <p:cNvSpPr/>
          <p:nvPr/>
        </p:nvSpPr>
        <p:spPr>
          <a:xfrm rot="11835112">
            <a:off x="7450414" y="1965546"/>
            <a:ext cx="1203636" cy="4499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Left Arrow 28"/>
          <p:cNvSpPr/>
          <p:nvPr/>
        </p:nvSpPr>
        <p:spPr>
          <a:xfrm rot="16200000">
            <a:off x="5386734" y="2373856"/>
            <a:ext cx="1155012" cy="43938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622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A71A1B-64EB-4AD0-B7DB-492ED9CBD581}"/>
              </a:ext>
            </a:extLst>
          </p:cNvPr>
          <p:cNvSpPr/>
          <p:nvPr/>
        </p:nvSpPr>
        <p:spPr>
          <a:xfrm>
            <a:off x="2434856" y="0"/>
            <a:ext cx="6613451" cy="116958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BUSINESS QUERIES</a:t>
            </a:r>
            <a:endParaRPr lang="en-IN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129C5F-0559-4482-95A7-1B5DB24E5395}"/>
              </a:ext>
            </a:extLst>
          </p:cNvPr>
          <p:cNvSpPr/>
          <p:nvPr/>
        </p:nvSpPr>
        <p:spPr>
          <a:xfrm>
            <a:off x="152400" y="1329070"/>
            <a:ext cx="11653284" cy="5401339"/>
          </a:xfrm>
          <a:prstGeom prst="round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arenR"/>
            </a:pPr>
            <a:r>
              <a:rPr 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what is the total sales, total profit, and total units sold across all regions?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How does monthly sales trend change over time?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Which product category contributes the most to total sales?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Which regions perform better in terms of total sales?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What is the sales and profit comparison for each product category?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How is total sales distributed across different regions?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Which products generate </a:t>
            </a:r>
            <a:r>
              <a:rPr lang="en-US" sz="24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hige</a:t>
            </a:r>
            <a:r>
              <a:rPr 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profit and low profit?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Is the sales target achieved or not?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How does sales performance very when a specific region is selected using slicers?</a:t>
            </a:r>
          </a:p>
          <a:p>
            <a:pPr algn="just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828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67425" y="1416676"/>
            <a:ext cx="2910625" cy="2279560"/>
          </a:xfrm>
          <a:prstGeom prst="roundRect">
            <a:avLst/>
          </a:prstGeom>
          <a:ln>
            <a:solidFill>
              <a:srgbClr val="FF000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TOTAL SALES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Shows the overall sales value generated from free fire products</a:t>
            </a:r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  <p:sp>
        <p:nvSpPr>
          <p:cNvPr id="14" name="Rounded Rectangle 13"/>
          <p:cNvSpPr/>
          <p:nvPr/>
        </p:nvSpPr>
        <p:spPr>
          <a:xfrm>
            <a:off x="3841124" y="1464974"/>
            <a:ext cx="2910625" cy="2279560"/>
          </a:xfrm>
          <a:prstGeom prst="roundRect">
            <a:avLst/>
          </a:prstGeom>
          <a:ln>
            <a:solidFill>
              <a:srgbClr val="FF000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TOTAL PROFIT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Displays the total profit earned from all sales</a:t>
            </a:r>
            <a:endParaRPr lang="en-IN" dirty="0"/>
          </a:p>
        </p:txBody>
      </p:sp>
      <p:sp>
        <p:nvSpPr>
          <p:cNvPr id="15" name="Rounded Rectangle 14"/>
          <p:cNvSpPr/>
          <p:nvPr/>
        </p:nvSpPr>
        <p:spPr>
          <a:xfrm>
            <a:off x="3841124" y="4161487"/>
            <a:ext cx="2910625" cy="2279560"/>
          </a:xfrm>
          <a:prstGeom prst="roundRect">
            <a:avLst/>
          </a:prstGeom>
          <a:ln>
            <a:solidFill>
              <a:srgbClr val="FF0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SALES TARGET ACHIEVEMENT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Shows how much of the sales target has been achieved</a:t>
            </a:r>
            <a:endParaRPr lang="en-IN" dirty="0"/>
          </a:p>
        </p:txBody>
      </p:sp>
      <p:sp>
        <p:nvSpPr>
          <p:cNvPr id="16" name="Rounded Rectangle 15"/>
          <p:cNvSpPr/>
          <p:nvPr/>
        </p:nvSpPr>
        <p:spPr>
          <a:xfrm>
            <a:off x="167425" y="4137338"/>
            <a:ext cx="2910625" cy="2279560"/>
          </a:xfrm>
          <a:prstGeom prst="roundRect">
            <a:avLst/>
          </a:prstGeom>
          <a:ln>
            <a:solidFill>
              <a:srgbClr val="FF000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TOTAL UNITS SOLD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Represents the total number of units sold across all products</a:t>
            </a:r>
            <a:endParaRPr lang="en-IN" dirty="0"/>
          </a:p>
        </p:txBody>
      </p:sp>
      <p:sp>
        <p:nvSpPr>
          <p:cNvPr id="17" name="Rounded Rectangle 16"/>
          <p:cNvSpPr/>
          <p:nvPr/>
        </p:nvSpPr>
        <p:spPr>
          <a:xfrm>
            <a:off x="3150224" y="180304"/>
            <a:ext cx="7495505" cy="867717"/>
          </a:xfrm>
          <a:prstGeom prst="roundRect">
            <a:avLst/>
          </a:prstGeom>
          <a:ln>
            <a:solidFill>
              <a:srgbClr val="FF000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KEY METRICS</a:t>
            </a:r>
            <a:endParaRPr lang="en-IN" sz="6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16967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B562A-E0A3-4245-B0BD-24D375D29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42" y="167274"/>
            <a:ext cx="11240848" cy="632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72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EFD9AE-D85A-40B6-9E23-5631ECA68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324" y="627321"/>
            <a:ext cx="9840301" cy="564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89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69B234-9D34-4480-946B-62148DDE5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7079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04F736-B26C-404F-A6BB-D0F8EF32A60F}"/>
              </a:ext>
            </a:extLst>
          </p:cNvPr>
          <p:cNvSpPr/>
          <p:nvPr/>
        </p:nvSpPr>
        <p:spPr>
          <a:xfrm>
            <a:off x="196702" y="782211"/>
            <a:ext cx="6033977" cy="9144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HOW DOES MONTHLY SALES TREND CHANGE OVER TIME</a:t>
            </a:r>
            <a:endParaRPr lang="en-IN" sz="2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8E25A9-79EE-4B58-A57B-E25BFA9FE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102" y="2562447"/>
            <a:ext cx="4497572" cy="226003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EBFEB5-06A3-43EF-A1D5-562DC54716F1}"/>
              </a:ext>
            </a:extLst>
          </p:cNvPr>
          <p:cNvSpPr/>
          <p:nvPr/>
        </p:nvSpPr>
        <p:spPr>
          <a:xfrm>
            <a:off x="196702" y="1977656"/>
            <a:ext cx="7391400" cy="3763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Why this chart?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Line chart is used to analyze sales trends over time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It shows monthly increase and decrease clearly</a:t>
            </a:r>
          </a:p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EXPLANATION: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chart represents monthly total sales from 2024-2026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Some months record higher sales around 2.9M – 3.0M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Lowest sales are around 1.8M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Overall sales show a moderate upward trend</a:t>
            </a:r>
          </a:p>
          <a:p>
            <a:endParaRPr lang="en-US" dirty="0"/>
          </a:p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CONCLUSION: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This trend helps identify peak &amp; low sales periods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Useful for forecasting, planning promotions, and improving sales strategy</a:t>
            </a:r>
          </a:p>
        </p:txBody>
      </p:sp>
    </p:spTree>
    <p:extLst>
      <p:ext uri="{BB962C8B-B14F-4D97-AF65-F5344CB8AC3E}">
        <p14:creationId xmlns:p14="http://schemas.microsoft.com/office/powerpoint/2010/main" val="3064761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EFDC30-8C6F-4CFE-AA8B-C4B41759C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7078"/>
            <a:ext cx="12192000" cy="6857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829611-5F46-495E-88B8-82D19720A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90" y="1333500"/>
            <a:ext cx="3467100" cy="20955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44F514-29C6-4094-8C8B-8AA9EF27FA30}"/>
              </a:ext>
            </a:extLst>
          </p:cNvPr>
          <p:cNvSpPr/>
          <p:nvPr/>
        </p:nvSpPr>
        <p:spPr>
          <a:xfrm>
            <a:off x="0" y="138114"/>
            <a:ext cx="7091916" cy="9784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WHICH PRODUCT CATEGORY CONTRIBUTES THE MOST TO TOTAL SALES?</a:t>
            </a:r>
            <a:endParaRPr lang="en-IN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0AC595-A12D-4628-BFF1-4E2F28925841}"/>
              </a:ext>
            </a:extLst>
          </p:cNvPr>
          <p:cNvSpPr/>
          <p:nvPr/>
        </p:nvSpPr>
        <p:spPr>
          <a:xfrm>
            <a:off x="3934048" y="1254642"/>
            <a:ext cx="8179094" cy="49016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WHY THIS CHART: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Pie chart is used to show category-wise contribution to total sales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It helps compare percentages share of each product category</a:t>
            </a:r>
          </a:p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EXPLANATION: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chart represents contribution of different product categories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Characters category contributes the highest share of total sales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Other categories like Skins, Elite Pass, Diamonds, and Weapons contribute moderately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This shows strong customer preference for Characters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3560F1-E00C-4E26-8086-7C19249112A5}"/>
              </a:ext>
            </a:extLst>
          </p:cNvPr>
          <p:cNvSpPr/>
          <p:nvPr/>
        </p:nvSpPr>
        <p:spPr>
          <a:xfrm>
            <a:off x="118287" y="4121722"/>
            <a:ext cx="3776332" cy="22727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CONCLUSION: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Characters is the top-performing product category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Focusing on this category can help maximize overall sales revenue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9662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D6F12B-E314-42EE-99A5-793D59AFC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1521"/>
            <a:ext cx="12192000" cy="686650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8794CC-58D5-4E29-A8D8-70CABB4A949B}"/>
              </a:ext>
            </a:extLst>
          </p:cNvPr>
          <p:cNvSpPr/>
          <p:nvPr/>
        </p:nvSpPr>
        <p:spPr>
          <a:xfrm>
            <a:off x="340666" y="219670"/>
            <a:ext cx="8282763" cy="1084521"/>
          </a:xfrm>
          <a:prstGeom prst="round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Which regions perform better in terms of total sales?</a:t>
            </a:r>
            <a:endParaRPr lang="en-IN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E462C0-179F-41AD-B937-2438F006F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221" y="1644945"/>
            <a:ext cx="4162425" cy="230505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2E3CF3E-A17A-40CF-A978-95F282B6A65C}"/>
              </a:ext>
            </a:extLst>
          </p:cNvPr>
          <p:cNvSpPr/>
          <p:nvPr/>
        </p:nvSpPr>
        <p:spPr>
          <a:xfrm>
            <a:off x="212650" y="1397073"/>
            <a:ext cx="6986921" cy="416588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Why this chart?</a:t>
            </a:r>
          </a:p>
          <a:p>
            <a:pPr algn="ctr"/>
            <a:r>
              <a:rPr lang="en-US" dirty="0"/>
              <a:t>❖ Bar chart is used to compare total sales across different regions</a:t>
            </a:r>
          </a:p>
          <a:p>
            <a:pPr algn="ctr"/>
            <a:r>
              <a:rPr lang="en-US" dirty="0"/>
              <a:t>❖ It clearly highlights high-performing and low-performing regions</a:t>
            </a:r>
          </a:p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EXPLANATION</a:t>
            </a:r>
          </a:p>
          <a:p>
            <a:pPr algn="ctr"/>
            <a:r>
              <a:rPr lang="en-US" dirty="0"/>
              <a:t>❖ The chart represents region-wise total sales performance</a:t>
            </a:r>
          </a:p>
          <a:p>
            <a:pPr algn="ctr"/>
            <a:r>
              <a:rPr lang="en-US" dirty="0"/>
              <a:t>❖ India records the highest total sales among all regions</a:t>
            </a:r>
          </a:p>
          <a:p>
            <a:pPr algn="ctr"/>
            <a:r>
              <a:rPr lang="en-US" dirty="0"/>
              <a:t>❖ Thailand and Philippines also show strong sales performance</a:t>
            </a:r>
          </a:p>
          <a:p>
            <a:pPr algn="ctr"/>
            <a:r>
              <a:rPr lang="en-US" dirty="0"/>
              <a:t>❖ Regions like Indonesia and Vietnam have comparatively lower sales</a:t>
            </a:r>
            <a:endParaRPr lang="en-IN" dirty="0"/>
          </a:p>
        </p:txBody>
      </p:sp>
      <p:sp>
        <p:nvSpPr>
          <p:cNvPr id="10" name="Scroll: Horizontal 9">
            <a:extLst>
              <a:ext uri="{FF2B5EF4-FFF2-40B4-BE49-F238E27FC236}">
                <a16:creationId xmlns:a16="http://schemas.microsoft.com/office/drawing/2014/main" id="{20229932-26EE-40B2-B162-F22702211EBB}"/>
              </a:ext>
            </a:extLst>
          </p:cNvPr>
          <p:cNvSpPr/>
          <p:nvPr/>
        </p:nvSpPr>
        <p:spPr>
          <a:xfrm>
            <a:off x="7199571" y="3769908"/>
            <a:ext cx="4992429" cy="2305049"/>
          </a:xfrm>
          <a:prstGeom prst="horizontalScroll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CONCLUSION</a:t>
            </a:r>
          </a:p>
          <a:p>
            <a:pPr algn="ctr"/>
            <a:r>
              <a:rPr lang="en-US"/>
              <a:t>❖ India is the best-performing region in terms of total sales</a:t>
            </a:r>
          </a:p>
          <a:p>
            <a:pPr algn="ctr"/>
            <a:r>
              <a:rPr lang="en-US"/>
              <a:t>❖ Region-wise analysis helps identify key markets for business growth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502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E35811-8282-4F37-AA12-E8FEAA16F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0607"/>
            <a:ext cx="11993526" cy="701603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51A5F1-68E7-4775-A1C8-EA88BA5DCEAA}"/>
              </a:ext>
            </a:extLst>
          </p:cNvPr>
          <p:cNvSpPr/>
          <p:nvPr/>
        </p:nvSpPr>
        <p:spPr>
          <a:xfrm>
            <a:off x="1345019" y="233916"/>
            <a:ext cx="7931888" cy="12121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What is the sales and profit comparison for each product category?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85D7FA-EB90-4906-814C-BE412D5F5423}"/>
              </a:ext>
            </a:extLst>
          </p:cNvPr>
          <p:cNvSpPr/>
          <p:nvPr/>
        </p:nvSpPr>
        <p:spPr>
          <a:xfrm>
            <a:off x="318977" y="1701210"/>
            <a:ext cx="11270511" cy="48484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Why this chart?</a:t>
            </a:r>
          </a:p>
          <a:p>
            <a:pPr algn="just"/>
            <a:r>
              <a:rPr lang="en-US" dirty="0"/>
              <a:t>❖ Clustered column chart is used to compare sales and profit side-by-side</a:t>
            </a:r>
          </a:p>
          <a:p>
            <a:pPr algn="just"/>
            <a:r>
              <a:rPr lang="en-US" dirty="0"/>
              <a:t>❖ It helps understand profitability of each product category</a:t>
            </a:r>
          </a:p>
          <a:p>
            <a:pPr algn="just"/>
            <a:endParaRPr lang="en-US" dirty="0"/>
          </a:p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EXPLANATION</a:t>
            </a:r>
          </a:p>
          <a:p>
            <a:pPr algn="just"/>
            <a:r>
              <a:rPr lang="en-US" dirty="0"/>
              <a:t>❖ The chart compares total sales and total profit for each product category</a:t>
            </a:r>
          </a:p>
          <a:p>
            <a:pPr algn="just"/>
            <a:r>
              <a:rPr lang="en-US" dirty="0"/>
              <a:t>❖ Characters generate the highest sales and profit</a:t>
            </a:r>
          </a:p>
          <a:p>
            <a:pPr algn="just"/>
            <a:r>
              <a:rPr lang="en-US" dirty="0"/>
              <a:t>❖ Skins and Elite Pass show good sales but relatively lower profit margins</a:t>
            </a:r>
          </a:p>
          <a:p>
            <a:pPr algn="just"/>
            <a:r>
              <a:rPr lang="en-US" dirty="0"/>
              <a:t>❖ Weapons record the lowest sales and profit</a:t>
            </a:r>
          </a:p>
          <a:p>
            <a:pPr algn="just"/>
            <a:endParaRPr lang="en-US" dirty="0"/>
          </a:p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CONCLUSION</a:t>
            </a:r>
          </a:p>
          <a:p>
            <a:pPr algn="just"/>
            <a:r>
              <a:rPr lang="en-US" dirty="0"/>
              <a:t>❖ Product categories contribute unequally to sales and profit</a:t>
            </a:r>
          </a:p>
          <a:p>
            <a:pPr algn="just"/>
            <a:r>
              <a:rPr lang="en-US" dirty="0"/>
              <a:t>❖ This comparison helps identify high-revenue and high-profit categories</a:t>
            </a:r>
          </a:p>
          <a:p>
            <a:pPr algn="just"/>
            <a:r>
              <a:rPr lang="en-US" dirty="0"/>
              <a:t>❖ Useful for pricing and product strategy decisions</a:t>
            </a:r>
          </a:p>
          <a:p>
            <a:pPr algn="just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E72CB7-94CA-41EC-8818-229B320F9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027" y="3002368"/>
            <a:ext cx="3648075" cy="301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31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77E78D-9749-4A19-86AA-CC9503717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959"/>
            <a:ext cx="12187464" cy="707328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E6C104-2F7A-40DB-8FF7-83535F936707}"/>
              </a:ext>
            </a:extLst>
          </p:cNvPr>
          <p:cNvSpPr/>
          <p:nvPr/>
        </p:nvSpPr>
        <p:spPr>
          <a:xfrm>
            <a:off x="308343" y="265814"/>
            <a:ext cx="7772400" cy="95693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How is total sales distributed across different regions?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2737BD-BDFA-49AF-9F7C-C37B264EF105}"/>
              </a:ext>
            </a:extLst>
          </p:cNvPr>
          <p:cNvSpPr/>
          <p:nvPr/>
        </p:nvSpPr>
        <p:spPr>
          <a:xfrm>
            <a:off x="245825" y="1597518"/>
            <a:ext cx="11695814" cy="48670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Why this chart?</a:t>
            </a:r>
          </a:p>
          <a:p>
            <a:r>
              <a:rPr lang="en-US" dirty="0"/>
              <a:t>❖ Donut chart is used to show percentage distribution of total sales</a:t>
            </a:r>
          </a:p>
          <a:p>
            <a:r>
              <a:rPr lang="en-US" dirty="0"/>
              <a:t>❖ It helps compare regional contribution to overall sales</a:t>
            </a:r>
          </a:p>
          <a:p>
            <a:endParaRPr lang="en-US" dirty="0"/>
          </a:p>
          <a:p>
            <a:r>
              <a:rPr lang="en-US" dirty="0"/>
              <a:t>EXPLANATION</a:t>
            </a:r>
          </a:p>
          <a:p>
            <a:r>
              <a:rPr lang="en-US" dirty="0"/>
              <a:t>❖ The chart represents region-wise distribution of total sales</a:t>
            </a:r>
          </a:p>
          <a:p>
            <a:r>
              <a:rPr lang="en-US" dirty="0"/>
              <a:t>❖ India contributes the highest share of total sales</a:t>
            </a:r>
          </a:p>
          <a:p>
            <a:r>
              <a:rPr lang="en-US" dirty="0"/>
              <a:t>❖ Other regions like Thailand, Philippines, and Mexico show moderate contribution</a:t>
            </a:r>
          </a:p>
          <a:p>
            <a:r>
              <a:rPr lang="en-US" dirty="0"/>
              <a:t>❖ Sales are fairly distributed across all regions</a:t>
            </a:r>
          </a:p>
          <a:p>
            <a:endParaRPr lang="en-US" dirty="0"/>
          </a:p>
          <a:p>
            <a:r>
              <a:rPr lang="en-US" dirty="0"/>
              <a:t>CONCLUSION</a:t>
            </a:r>
          </a:p>
          <a:p>
            <a:r>
              <a:rPr lang="en-US" dirty="0"/>
              <a:t>❖ India is the largest contributor to total sales</a:t>
            </a:r>
          </a:p>
          <a:p>
            <a:r>
              <a:rPr lang="en-US" dirty="0"/>
              <a:t>❖ Region-wise distribution helps identify key and emerging markets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72DE6C-10B9-4ABB-BDF3-DBB6AF704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823" y="2398958"/>
            <a:ext cx="3573816" cy="354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34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82153F-4182-4EE8-A805-266D00FAA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5609"/>
            <a:ext cx="12192000" cy="697234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35EB64-05C9-4995-828F-178779C01FB3}"/>
              </a:ext>
            </a:extLst>
          </p:cNvPr>
          <p:cNvSpPr/>
          <p:nvPr/>
        </p:nvSpPr>
        <p:spPr>
          <a:xfrm>
            <a:off x="1669312" y="138223"/>
            <a:ext cx="8304028" cy="10632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Which products generate </a:t>
            </a:r>
            <a:r>
              <a:rPr lang="en-US" sz="2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hige</a:t>
            </a:r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profit and low profit?</a:t>
            </a:r>
            <a:endParaRPr lang="en-IN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E63819-FDD3-47DE-BF16-28ABB56DFBA3}"/>
              </a:ext>
            </a:extLst>
          </p:cNvPr>
          <p:cNvSpPr/>
          <p:nvPr/>
        </p:nvSpPr>
        <p:spPr>
          <a:xfrm>
            <a:off x="216195" y="1685261"/>
            <a:ext cx="11759609" cy="49335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Why this chart?</a:t>
            </a:r>
          </a:p>
          <a:p>
            <a:r>
              <a:rPr lang="en-US" dirty="0"/>
              <a:t>❖ Bar chart is used to compare profit across different products</a:t>
            </a:r>
          </a:p>
          <a:p>
            <a:r>
              <a:rPr lang="en-US" dirty="0"/>
              <a:t>❖ It clearly highlights high-profit and low-profit products</a:t>
            </a:r>
          </a:p>
          <a:p>
            <a:endParaRPr lang="en-US" dirty="0"/>
          </a:p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EXPLANATION</a:t>
            </a:r>
          </a:p>
          <a:p>
            <a:endParaRPr lang="en-US" dirty="0"/>
          </a:p>
          <a:p>
            <a:r>
              <a:rPr lang="en-US" dirty="0"/>
              <a:t>❖ The chart shows product-wise total profit</a:t>
            </a:r>
          </a:p>
          <a:p>
            <a:r>
              <a:rPr lang="en-US" dirty="0"/>
              <a:t>❖ M1014 Evo, Golden AK, and Elite Pass S2 generate the highest profit</a:t>
            </a:r>
          </a:p>
          <a:p>
            <a:r>
              <a:rPr lang="en-US" dirty="0"/>
              <a:t>❖ Elite Pass S1 and 500 Diamonds generate lower profit compared to </a:t>
            </a:r>
          </a:p>
          <a:p>
            <a:r>
              <a:rPr lang="en-US" dirty="0"/>
              <a:t>     other products</a:t>
            </a:r>
          </a:p>
          <a:p>
            <a:r>
              <a:rPr lang="en-US" dirty="0"/>
              <a:t>❖ Profit varies significantly across products</a:t>
            </a:r>
          </a:p>
          <a:p>
            <a:endParaRPr lang="en-US" dirty="0"/>
          </a:p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CONCLUSION</a:t>
            </a:r>
          </a:p>
          <a:p>
            <a:endParaRPr lang="en-US" dirty="0"/>
          </a:p>
          <a:p>
            <a:r>
              <a:rPr lang="en-US" dirty="0"/>
              <a:t>❖ High-profit products should be prioritized for promotion</a:t>
            </a:r>
          </a:p>
          <a:p>
            <a:r>
              <a:rPr lang="en-US" dirty="0"/>
              <a:t>❖ Low-profit products need pricing or sales strategy improvement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A1A5E4-1843-4761-99DD-0D58144A5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343" y="2454000"/>
            <a:ext cx="4382880" cy="345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72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EF2862-73F4-4E8C-8FBE-6F2C1E647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7685"/>
            <a:ext cx="12192000" cy="699568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B35EDE-0A16-41D2-9B38-D3F146566D02}"/>
              </a:ext>
            </a:extLst>
          </p:cNvPr>
          <p:cNvSpPr/>
          <p:nvPr/>
        </p:nvSpPr>
        <p:spPr>
          <a:xfrm>
            <a:off x="308344" y="170121"/>
            <a:ext cx="8293395" cy="7017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Is the sales target achieved or not?</a:t>
            </a:r>
            <a:endParaRPr lang="en-IN" sz="32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431B49-A252-4D56-A48E-BAB31D6BE8B9}"/>
              </a:ext>
            </a:extLst>
          </p:cNvPr>
          <p:cNvSpPr/>
          <p:nvPr/>
        </p:nvSpPr>
        <p:spPr>
          <a:xfrm>
            <a:off x="164593" y="1313120"/>
            <a:ext cx="11843110" cy="51882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Why this chart?</a:t>
            </a:r>
          </a:p>
          <a:p>
            <a:endParaRPr lang="en-US" sz="2000" dirty="0"/>
          </a:p>
          <a:p>
            <a:r>
              <a:rPr lang="en-US" sz="2000" dirty="0"/>
              <a:t>❖ Gauge chart is used to track target vs actual performance</a:t>
            </a:r>
          </a:p>
          <a:p>
            <a:r>
              <a:rPr lang="en-US" sz="2000" dirty="0"/>
              <a:t>❖ It provides a quick visual indication of target achievement status</a:t>
            </a:r>
          </a:p>
          <a:p>
            <a:endParaRPr lang="en-US" sz="2000" dirty="0"/>
          </a:p>
          <a:p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EXPLANATION</a:t>
            </a:r>
          </a:p>
          <a:p>
            <a:endParaRPr lang="en-US" sz="2000" dirty="0"/>
          </a:p>
          <a:p>
            <a:r>
              <a:rPr lang="en-US" sz="2000" dirty="0"/>
              <a:t>❖ The chart compares actual total sales with the defined sales target</a:t>
            </a:r>
          </a:p>
          <a:p>
            <a:r>
              <a:rPr lang="en-US" sz="2000" dirty="0"/>
              <a:t>❖ The gauge indicates that the sales target has been achieved</a:t>
            </a:r>
          </a:p>
          <a:p>
            <a:r>
              <a:rPr lang="en-US" sz="2000" dirty="0"/>
              <a:t>❖ Performance level falls within the success range</a:t>
            </a:r>
          </a:p>
          <a:p>
            <a:endParaRPr lang="en-US" sz="2000" dirty="0"/>
          </a:p>
          <a:p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CONCLUSION</a:t>
            </a:r>
          </a:p>
          <a:p>
            <a:endParaRPr lang="en-US" sz="2000" dirty="0"/>
          </a:p>
          <a:p>
            <a:r>
              <a:rPr lang="en-US" sz="2000" dirty="0"/>
              <a:t>❖ The sales target is successfully achieved</a:t>
            </a:r>
          </a:p>
          <a:p>
            <a:r>
              <a:rPr lang="en-US" sz="2000" dirty="0"/>
              <a:t>❖ Indicates strong overall sales performance</a:t>
            </a:r>
          </a:p>
          <a:p>
            <a:r>
              <a:rPr lang="en-US" sz="2000" dirty="0"/>
              <a:t>❖ Confirms effectiveness of current sales strategies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8D3768-7EAB-4102-A063-3BAB3DF75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810" y="2157872"/>
            <a:ext cx="4199860" cy="371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80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3235C-0F34-4AF5-B093-D65FFD31F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7406"/>
            <a:ext cx="12192000" cy="68199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0DB000-FC95-461B-A145-A4D4A952D505}"/>
              </a:ext>
            </a:extLst>
          </p:cNvPr>
          <p:cNvSpPr/>
          <p:nvPr/>
        </p:nvSpPr>
        <p:spPr>
          <a:xfrm>
            <a:off x="1600200" y="512064"/>
            <a:ext cx="8010144" cy="8869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How does sales performance very when a specific region is selected using slicers?</a:t>
            </a:r>
            <a:endParaRPr lang="en-IN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B0C19C-5349-4442-BCD0-4BEFFF8FE466}"/>
              </a:ext>
            </a:extLst>
          </p:cNvPr>
          <p:cNvSpPr/>
          <p:nvPr/>
        </p:nvSpPr>
        <p:spPr>
          <a:xfrm>
            <a:off x="384048" y="1591056"/>
            <a:ext cx="11338560" cy="47548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Why this feature?</a:t>
            </a:r>
          </a:p>
          <a:p>
            <a:endParaRPr lang="en-US" dirty="0"/>
          </a:p>
          <a:p>
            <a:r>
              <a:rPr lang="en-US" dirty="0"/>
              <a:t>❖ Slicers are used to filter data interactively</a:t>
            </a:r>
          </a:p>
          <a:p>
            <a:r>
              <a:rPr lang="en-US" dirty="0"/>
              <a:t>❖ They allow users to analyze region-specific sales performance</a:t>
            </a:r>
          </a:p>
          <a:p>
            <a:endParaRPr lang="en-US" dirty="0"/>
          </a:p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EXPLANATION</a:t>
            </a:r>
          </a:p>
          <a:p>
            <a:endParaRPr lang="en-US" dirty="0"/>
          </a:p>
          <a:p>
            <a:r>
              <a:rPr lang="en-US" dirty="0"/>
              <a:t>❖ When a region is selected using the slicer, all visuals update automatically</a:t>
            </a:r>
          </a:p>
          <a:p>
            <a:r>
              <a:rPr lang="en-US" dirty="0"/>
              <a:t>❖ KPI cards show sales, profit, and units sold for the selected region</a:t>
            </a:r>
          </a:p>
          <a:p>
            <a:r>
              <a:rPr lang="en-US" dirty="0"/>
              <a:t>❖ Charts display product-wise and monthly performance only for that region</a:t>
            </a:r>
          </a:p>
          <a:p>
            <a:r>
              <a:rPr lang="en-US" dirty="0"/>
              <a:t>❖ This helps identify high and low performing regions clearly</a:t>
            </a:r>
          </a:p>
          <a:p>
            <a:endParaRPr lang="en-US" dirty="0"/>
          </a:p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CONCLUSION</a:t>
            </a:r>
          </a:p>
          <a:p>
            <a:r>
              <a:rPr lang="en-US" dirty="0"/>
              <a:t>❖ Slicers enable dynamic and focused analysis</a:t>
            </a:r>
          </a:p>
          <a:p>
            <a:r>
              <a:rPr lang="en-US" dirty="0"/>
              <a:t>❖ They support better regional decision-making</a:t>
            </a:r>
          </a:p>
          <a:p>
            <a:r>
              <a:rPr lang="en-US" dirty="0"/>
              <a:t>❖ Improve dashboard interactivity and usability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45ACE3-F6BA-4397-980A-E9802DFB0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560" y="2148840"/>
            <a:ext cx="3755136" cy="377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12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2F7D70-C199-4F06-A9C5-645827523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149D39-F69B-4852-9080-3597FFEEDF91}"/>
              </a:ext>
            </a:extLst>
          </p:cNvPr>
          <p:cNvSpPr/>
          <p:nvPr/>
        </p:nvSpPr>
        <p:spPr>
          <a:xfrm>
            <a:off x="1709928" y="1920240"/>
            <a:ext cx="8001000" cy="4032504"/>
          </a:xfrm>
          <a:prstGeom prst="round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CONCLUSION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2000" dirty="0"/>
              <a:t>The Free Fire Sales Dashboard provides a clear and interactive view of sales performance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2000" dirty="0"/>
              <a:t>It helps analyze sales, profit, product categories, regions, and targets effectively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2000" dirty="0"/>
              <a:t>High-performing products and regions are clearly identified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2000" dirty="0"/>
              <a:t>Sales target achievement can be monitored easily using KPIs and gauge charts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2000" dirty="0"/>
              <a:t>Interactive features like slicers enable region-specific analysis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2000" dirty="0"/>
              <a:t>Overall, the dashboard supports data-driven decision-making and business growth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58420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988</TotalTime>
  <Words>1330</Words>
  <Application>Microsoft Office PowerPoint</Application>
  <PresentationFormat>Widescreen</PresentationFormat>
  <Paragraphs>227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Algerian</vt:lpstr>
      <vt:lpstr>Arial</vt:lpstr>
      <vt:lpstr>Arial Black</vt:lpstr>
      <vt:lpstr>Calibri</vt:lpstr>
      <vt:lpstr>Calibri Light</vt:lpstr>
      <vt:lpstr>Cambria Math</vt:lpstr>
      <vt:lpstr>Wingdings</vt:lpstr>
      <vt:lpstr>Office Theme</vt:lpstr>
      <vt:lpstr>FREE FIRE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FIRE SALES PERFORMANCE DASHBOARD</dc:title>
  <dc:creator>ANUDIP</dc:creator>
  <cp:lastModifiedBy>ANUDIP</cp:lastModifiedBy>
  <cp:revision>65</cp:revision>
  <dcterms:created xsi:type="dcterms:W3CDTF">2026-02-04T09:53:18Z</dcterms:created>
  <dcterms:modified xsi:type="dcterms:W3CDTF">2026-02-06T08:22:51Z</dcterms:modified>
</cp:coreProperties>
</file>